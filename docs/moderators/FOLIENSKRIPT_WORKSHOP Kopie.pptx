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Ziel: Multi-Agent Orchestration anhand eines konkreten Projekts verstehen.</a:t>
            </a:r>
          </a:p>
          <a:p>
            <a:r>
              <a:t>Wir gehen von Theorie → Prinzip → Code → Aufgaben.</a:t>
            </a:r>
          </a:p>
          <a:p>
            <a:r>
              <a:t>Deck generiert am 2025-12-14.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Timing-Ansage: Wir beenden alle Aktivitäten ca. 5 Minuten vor Schluss.</a:t>
            </a:r>
          </a:p>
          <a:p>
            <a:r>
              <a:t>Wenn Setup hängt: auf Code-Walkthrough ohne Ausführen wechseln.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Regel für den Workshop: Erst Prinzip erklären, dann zeigen wo es im Code steckt, dann Aufgaben.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Wichtig: Notes sind die Referenz. Critic bestraft ungrounded claims.</a:t>
            </a:r>
          </a:p>
          <a:p>
            <a:r>
              <a:t>Integrator nutzt Critic-Signal, erfindet aber keine Fakten.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Zeige: Meta Summary, Summary, Notes, Critic, Timing.</a:t>
            </a:r>
          </a:p>
          <a:p>
            <a:r>
              <a:t>Plenum-Frage: Welcher Schritt ist am teuersten (Reader vs Summarizer) und warum?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Erwartungsmanagement: Wir optimieren nicht perfekt, sondern lernen Mechanismen &amp;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Hauptpunkt: Reihenfolge = Kontrollfluss. Keine expliziten Branches/Loops.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Kurz durch `run_pipeline()` scrollen: Aufruf-Reihenfolge + welche Daten weitergereicht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Diskussion: Welche Nebenwirkung hat ‚kürzer‘ auf Coverage/Specificity?</a:t>
            </a:r>
          </a:p>
          <a:p>
            <a:r>
              <a:t>Grenze: Wenn Notes keine Zahlen enthalten, muss Summary ‚not reported‘ sagen.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Plenum-Frage: Wie macht man Abhängigkeiten sichtbar, ohne gleich LangGraph zu nutzen?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Hauptpunkt: Kontrollfluss ist explizit und kann anhand von Scores/Heuristiken geroutet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Zeige kurz: graph.add_node/add_edge/add_conditional_edges.</a:t>
            </a:r>
          </a:p>
          <a:p>
            <a:r>
              <a:t>Dann in der App den Graph anzeigen.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Variante A: In `_execute_translator_node` Defaults ändern.</a:t>
            </a:r>
          </a:p>
          <a:p>
            <a:r>
              <a:t>Variante B: (optional) `translator_language`/`translator_style` in `app/app.py` ins config-Dict aufnehmen.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Diskussion: Zu aggressives Loopen erhöht Kosten/Latenz und kann overfitten.</a:t>
            </a:r>
          </a:p>
          <a:p>
            <a:r>
              <a:t>Frage: Welche Signale taugen für Routing (LLM-Score vs Heuristik-F1 vs Kombination)?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Hauptpunkt: Kontrolle verschiebt sich – weniger Prompt-Handarbeit, mehr Zielbeschreibung + Daten.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Wenn DSPy nicht installiert ist: Stub-Modus (App crasht nicht), Konzept trotzdem erklärbar.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Explizit machen: In LangChain/LangGraph editiert ihr Prompts direkt; DSPy verändert Verhalten über Signatures.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Diskussion: Schlechte/biasierte Dev-Beispiele können Teleprompting in die falsche Richtung treiben.</a:t>
            </a:r>
          </a:p>
          <a:p>
            <a:r>
              <a:t>Frage: Wie sähe ein gutes Dev-Set für eure Domäne aus?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Plenum-Frage: Für welchen Use Case würdet ihr heute welches Paradigma wählen – und warum?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Code-Anchor: `app/utils.py` (Robustheit), `app/telemetry.py` (Messung).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Abschluss-Satz: Erst Artefakte + Messung schaffen, dann optimieren.</a:t>
            </a:r>
          </a:p>
          <a:p>
            <a:r>
              <a:t>Letzte Q&amp;A-Runde.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/>
              <a:t>Multi-Agent Orchestration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/>
              <a:t>Paper Analyzer • LangChain vs. LangGraph vs. DSPy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Ablauf (60 Minuten)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Einleitung + Mini-Demo (5 min)</a:t>
            </a:r>
          </a:p>
          <a:p>
            <a:pPr>
              <a:defRPr sz="2000"/>
            </a:pPr>
            <a:r>
              <a:t>Praxis: LangChain → LangGraph → DSPy (50 min)</a:t>
            </a:r>
          </a:p>
          <a:p>
            <a:pPr>
              <a:defRPr sz="2000"/>
            </a:pPr>
            <a:r>
              <a:t>Wrap-Up: Erkenntnisse + Transfer + Q&amp;A (5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Multi-Agent Prinzip: Zerlegen → Orchestrieren → Bewerten → Integrieren</a:t>
            </a:r>
          </a:p>
          <a:p>
            <a:pPr>
              <a:defRPr sz="2000"/>
            </a:pPr>
            <a:r>
              <a:t>Im Code wiederfinden: Agenten (`app/agents/*`) + Workflows (`app/workflows/*`)</a:t>
            </a:r>
          </a:p>
          <a:p>
            <a:pPr>
              <a:defRPr sz="2000"/>
            </a:pPr>
            <a:r>
              <a:t>Zwei Aufgabenarten: (1) Verständnis, (2) Grenzen/Trade-offs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Pipeline als mentale Landkarte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Reader: extrahiert strukturierte Notes (Ground Truth im Workflow)</a:t>
            </a:r>
          </a:p>
          <a:p>
            <a:pPr>
              <a:defRPr sz="2000"/>
            </a:pPr>
            <a:r>
              <a:t>Summarizer: schreibt Summary aus Notes</a:t>
            </a:r>
          </a:p>
          <a:p>
            <a:pPr>
              <a:defRPr sz="2000"/>
            </a:pPr>
            <a:r>
              <a:t>Critic: bewertet Summary gegen Notes (Rubrik 0–5)</a:t>
            </a:r>
          </a:p>
          <a:p>
            <a:pPr>
              <a:defRPr sz="2000"/>
            </a:pPr>
            <a:r>
              <a:t>Integrator: Meta Summary aus Summary + Critic (weiterhin grounded in Notes)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2560320" cy="914400"/>
          </a:xfrm>
          <a:prstGeom prst="roundRect">
            <a:avLst/>
          </a:prstGeom>
          <a:solidFill>
            <a:srgbClr val="F5F8FF"/>
          </a:solidFill>
          <a:ln w="25400">
            <a:solidFill>
              <a:srgbClr val="5A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Reader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2377440"/>
            <a:ext cx="2560320" cy="914400"/>
          </a:xfrm>
          <a:prstGeom prst="roundRect">
            <a:avLst/>
          </a:prstGeom>
          <a:solidFill>
            <a:srgbClr val="F5F8FF"/>
          </a:solidFill>
          <a:ln w="25400">
            <a:solidFill>
              <a:srgbClr val="5A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Summarizer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377440"/>
            <a:ext cx="2560320" cy="914400"/>
          </a:xfrm>
          <a:prstGeom prst="roundRect">
            <a:avLst/>
          </a:prstGeom>
          <a:solidFill>
            <a:srgbClr val="F5F8FF"/>
          </a:solidFill>
          <a:ln w="25400">
            <a:solidFill>
              <a:srgbClr val="5A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Critic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2377440"/>
            <a:ext cx="2560320" cy="914400"/>
          </a:xfrm>
          <a:prstGeom prst="roundRect">
            <a:avLst/>
          </a:prstGeom>
          <a:solidFill>
            <a:srgbClr val="F5F8FF"/>
          </a:solidFill>
          <a:ln w="25400">
            <a:solidFill>
              <a:srgbClr val="5A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Integrator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2834640"/>
            <a:ext cx="457200" cy="0"/>
          </a:xfrm>
          <a:prstGeom prst="line">
            <a:avLst/>
          </a:prstGeom>
          <a:ln w="25400">
            <a:solidFill>
              <a:srgbClr val="5A7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2834640"/>
            <a:ext cx="457200" cy="0"/>
          </a:xfrm>
          <a:prstGeom prst="line">
            <a:avLst/>
          </a:prstGeom>
          <a:ln w="25400">
            <a:solidFill>
              <a:srgbClr val="5A7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418320" y="2834640"/>
            <a:ext cx="457200" cy="0"/>
          </a:xfrm>
          <a:prstGeom prst="line">
            <a:avLst/>
          </a:prstGeom>
          <a:ln w="25400">
            <a:solidFill>
              <a:srgbClr val="5A7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571500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A5A5A"/>
                </a:solidFill>
              </a:rPr>
              <a:t>Code-Anker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Reader: `app/agents/reader.py`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Summarizer: `app/agents/summarizer.py`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Critic: `app/agents/critic.py`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Integrator: `app/agents/integrator.py`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Live-Demo (90 Sekunden)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App öffnen → Tab „Analysis“</a:t>
            </a:r>
          </a:p>
          <a:p>
            <a:pPr>
              <a:defRPr sz="2000"/>
            </a:pPr>
            <a:r>
              <a:t>Kurzes PDF/TXT hochladen</a:t>
            </a:r>
          </a:p>
          <a:p>
            <a:pPr>
              <a:defRPr sz="2000"/>
            </a:pPr>
            <a:r>
              <a:t>Pipeline: LangChain auswählen</a:t>
            </a:r>
          </a:p>
          <a:p>
            <a:pPr>
              <a:defRPr sz="2000"/>
            </a:pPr>
            <a:r>
              <a:t>„Analyze“ → Artefakte + Timing anschauen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1500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A5A5A"/>
                </a:solidFill>
              </a:rPr>
              <a:t>Code-Anker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UI: `app/app.py`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Telemetry: `app/telemetry.py`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Praxis-Regeln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Immer nur 1 Änderung → erneut ausführen → Effekt beobachten</a:t>
            </a:r>
          </a:p>
          <a:p>
            <a:pPr>
              <a:defRPr sz="2000"/>
            </a:pPr>
            <a:r>
              <a:t>Hypothese → Änderung → Messung (Output + Timing/Telemetry)</a:t>
            </a:r>
          </a:p>
          <a:p>
            <a:pPr>
              <a:defRPr sz="2000"/>
            </a:pPr>
            <a:r>
              <a:t>Bei Problemen: „Debug Mode“ in der Sidebar aktivieren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LangChain – Prinzip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Linearer Kontrollfluss: Step A liefert Input für Step B</a:t>
            </a:r>
          </a:p>
          <a:p>
            <a:pPr>
              <a:defRPr sz="2000"/>
            </a:pPr>
            <a:r>
              <a:t>Abhängigkeiten sind implizit (durch Reihenfolge im Code)</a:t>
            </a:r>
          </a:p>
          <a:p>
            <a:pPr>
              <a:defRPr sz="2000"/>
            </a:pPr>
            <a:r>
              <a:t>Sehr gut für Einstieg &amp; schnelle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1500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A5A5A"/>
                </a:solidFill>
              </a:rPr>
              <a:t>Code-Anker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`app/workflows/langchain_pipeline.py` (`run_pipeline`)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LangChain – Wo ist das im Code?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Preprocessing: `build_analysis_context(...)`</a:t>
            </a:r>
          </a:p>
          <a:p>
            <a:pPr>
              <a:defRPr sz="2000"/>
            </a:pPr>
            <a:r>
              <a:t>Reader → Summarizer → Critic → Integrator (sequenziell)</a:t>
            </a:r>
          </a:p>
          <a:p>
            <a:pPr>
              <a:defRPr sz="2000"/>
            </a:pPr>
            <a:r>
              <a:t>Timing wird pro Stage gemessen und als Telemetrie geloggt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1500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A5A5A"/>
                </a:solidFill>
              </a:rPr>
              <a:t>Code-Anker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`app/utils.py` (`build_analysis_context`) 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`app/workflows/langchain_pipeline.py`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`app/telemetry.py` (`log_row`)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Aufgabe (Verständnis): Prompt-Wirkung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In `app/agents/summarizer.py`: „200-300 words“ → „50-100 words“</a:t>
            </a:r>
          </a:p>
          <a:p>
            <a:pPr>
              <a:defRPr sz="2000"/>
            </a:pPr>
            <a:r>
              <a:t>LangChain erneut ausführen</a:t>
            </a:r>
          </a:p>
          <a:p>
            <a:pPr>
              <a:defRPr sz="2000"/>
            </a:pPr>
            <a:r>
              <a:t>Beobachten: Summary-Länge + Critic (Coverage/Specificity) + Meta Summary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Aufgabe (Grenzen): Reihenfolge/Abhängigkeiten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Prinzip: Critic braucht Notes + Summary</a:t>
            </a:r>
          </a:p>
          <a:p>
            <a:pPr>
              <a:defRPr sz="2000"/>
            </a:pPr>
            <a:r>
              <a:t>In `app/workflows/langchain_pipeline.py`: Critic vor Summarizer ziehen</a:t>
            </a:r>
          </a:p>
          <a:p>
            <a:pPr>
              <a:defRPr sz="2000"/>
            </a:pPr>
            <a:r>
              <a:t>Erwartung: Bewertung wird sinnlos/konzeptionell kaputt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LangGraph – Prinzip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Explizite Nodes + Edges + gemeinsamer State</a:t>
            </a:r>
          </a:p>
          <a:p>
            <a:pPr>
              <a:defRPr sz="2000"/>
            </a:pPr>
            <a:r>
              <a:t>Conditional Flow: Branches &amp; Loops möglich</a:t>
            </a:r>
          </a:p>
          <a:p>
            <a:pPr>
              <a:defRPr sz="2000"/>
            </a:pPr>
            <a:r>
              <a:t>Visualisierung als Graph (DOT/Graphviz) hilft beim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1500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A5A5A"/>
                </a:solidFill>
              </a:rPr>
              <a:t>Code-Anker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`app/workflows/langgraph_pipeline.py`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LangGraph – Wo ist das im Code?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`PipelineState`: welche Felder die Nodes lesen/schreiben</a:t>
            </a:r>
          </a:p>
          <a:p>
            <a:pPr>
              <a:defRPr sz="2000"/>
            </a:pPr>
            <a:r>
              <a:t>`_build_langgraph_workflow()`: Nodes/Edges definieren</a:t>
            </a:r>
          </a:p>
          <a:p>
            <a:pPr>
              <a:defRPr sz="2000"/>
            </a:pPr>
            <a:r>
              <a:t>`_critic_post_path()`: Routing-Entscheidungen (z. B. rework-loop)</a:t>
            </a:r>
          </a:p>
          <a:p>
            <a:pPr>
              <a:defRPr sz="2000"/>
            </a:pPr>
            <a:r>
              <a:t>Output enthält zusätzlich `graph_dot` + ggf. `critic_loops`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1500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A5A5A"/>
                </a:solidFill>
              </a:rPr>
              <a:t>Code-Anker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`app/workflows/langgraph_pipeline.py` (`PipelineState`) 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`app/workflows/langgraph_pipeline.py` (`_build_langgraph_workflow`) 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`app/workflows/langgraph_pipeline.py` (`_critic_post_path`)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Aufgabe (Verständnis): State &amp; Zusatz-Nodes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`_execute_translator_node`: setzt `state['summary_translated']`</a:t>
            </a:r>
          </a:p>
          <a:p>
            <a:pPr>
              <a:defRPr sz="2000"/>
            </a:pPr>
            <a:r>
              <a:t>`_execute_keyword_node`: setzt `state['keywords']`</a:t>
            </a:r>
          </a:p>
          <a:p>
            <a:pPr>
              <a:defRPr sz="2000"/>
            </a:pPr>
            <a:r>
              <a:t>Ändere eine Default-Option (z. B. EN + ultra_short) und führe LangGraph erneut aus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1500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A5A5A"/>
                </a:solidFill>
              </a:rPr>
              <a:t>Code-Anker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`app/workflows/langgraph_pipeline.py` (`_execute_translator_node`) 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`app/workflows/langgraph_pipeline.py` (`_execute_keyword_node`)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Aufgabe (Grenzen): Routing/Qualitätsschwellen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Finde Routing-Logik in `_critic_post_path()`</a:t>
            </a:r>
          </a:p>
          <a:p>
            <a:pPr>
              <a:defRPr sz="2000"/>
            </a:pPr>
            <a:r>
              <a:t>Ändere eine Schwelle (z. B. strenger/lockerer für rework-loop)</a:t>
            </a:r>
          </a:p>
          <a:p>
            <a:pPr>
              <a:defRPr sz="2000"/>
            </a:pPr>
            <a:r>
              <a:t>Beobachte: `critic_loops`, Laufzeit, Output-Qualität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DSPy – Prinzip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Deklarativ: `dspy.Signature` beschreibt Inputs/Outputs + Constraints</a:t>
            </a:r>
          </a:p>
          <a:p>
            <a:pPr>
              <a:defRPr sz="2000"/>
            </a:pPr>
            <a:r>
              <a:t>DSPy generiert Prompts aus Signatures (nicht als Prompt-Strings im Code)</a:t>
            </a:r>
          </a:p>
          <a:p>
            <a:pPr>
              <a:defRPr sz="2000"/>
            </a:pPr>
            <a:r>
              <a:t>Optional: Teleprompting optimiert anhand eines Dev-Sets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1500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A5A5A"/>
                </a:solidFill>
              </a:rPr>
              <a:t>Code-Anker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`app/workflows/dspy_pipeline.py`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DSPy – Wo ist das im Code?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Signatures: `ReadNotes`, `Summarize`, `Critique`, `Integrate`</a:t>
            </a:r>
          </a:p>
          <a:p>
            <a:pPr>
              <a:defRPr sz="2000"/>
            </a:pPr>
            <a:r>
              <a:t>`PaperPipeline.forward(...)`: ruft die Module in Reihenfolge auf</a:t>
            </a:r>
          </a:p>
          <a:p>
            <a:pPr>
              <a:defRPr sz="2000"/>
            </a:pPr>
            <a:r>
              <a:t>Teleprompting: `_teleprompt_if_requested(...)` (BootstrapFewShot)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1500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A5A5A"/>
                </a:solidFill>
              </a:rPr>
              <a:t>Code-Anker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`app/workflows/dspy_pipeline.py` (Signatures) 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`app/workflows/dspy_pipeline.py` (`_teleprompt_if_requested`)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Aufgabe (Verständnis): Signature ändern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In `Summarize`-Docstring Fokus ändern (z. B. „Results first, numeric metrics“) </a:t>
            </a:r>
          </a:p>
          <a:p>
            <a:pPr>
              <a:defRPr sz="2000"/>
            </a:pPr>
            <a:r>
              <a:t>DSPy ausführen und Output vergleichen</a:t>
            </a:r>
          </a:p>
          <a:p>
            <a:pPr>
              <a:defRPr sz="2000"/>
            </a:pPr>
            <a:r>
              <a:t>Beobachtung: Verhalten ändert sich ohne Prompt-String-Edit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Aufgabe (Grenzen): Teleprompting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Teleprompting aktivieren (wenn Dev-Set vorhanden)</a:t>
            </a:r>
          </a:p>
          <a:p>
            <a:pPr>
              <a:defRPr sz="2000"/>
            </a:pPr>
            <a:r>
              <a:t>„Run Teleprompt Comparison“ starten</a:t>
            </a:r>
          </a:p>
          <a:p>
            <a:pPr>
              <a:defRPr sz="2000"/>
            </a:pPr>
            <a:r>
              <a:t>Vergleichen: F1 Gain vs. Latenz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Wrap-Up: 3 Paradigmen auf 1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LangChain: schnell &amp; simpel – aber Abhängigkeiten implizit</a:t>
            </a:r>
          </a:p>
          <a:p>
            <a:pPr>
              <a:defRPr sz="2000"/>
            </a:pPr>
            <a:r>
              <a:t>LangGraph: expliziter Flow + Routing + Visualisierung – mehr Boilerplate, dafür Kontrolle</a:t>
            </a:r>
          </a:p>
          <a:p>
            <a:pPr>
              <a:defRPr sz="2000"/>
            </a:pPr>
            <a:r>
              <a:t>DSPy: deklarativ + (optional) self-improving – braucht Dev-Set, anderes Debugging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Wrap-Up: Zentrale Erkenntnisse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Artefakte pro Schritt (Notes/Summary/Critic/Meta) machen Debugging leichter</a:t>
            </a:r>
          </a:p>
          <a:p>
            <a:pPr>
              <a:defRPr sz="2000"/>
            </a:pPr>
            <a:r>
              <a:t>Qualität kommt durch Grounding + Feedback + sinnvollen Kontrollfluss</a:t>
            </a:r>
          </a:p>
          <a:p>
            <a:pPr>
              <a:defRPr sz="2000"/>
            </a:pPr>
            <a:r>
              <a:t>Messbarkeit: Timing/Telemetry + (optional) Quality-Heuristiken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1500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A5A5A"/>
                </a:solidFill>
              </a:rPr>
              <a:t>Code-Anker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`app/utils.py`</a:t>
            </a:r>
          </a:p>
          <a:p>
            <a:pPr lvl="1">
              <a:defRPr sz="1400">
                <a:solidFill>
                  <a:srgbClr val="5A5A5A"/>
                </a:solidFill>
              </a:defRPr>
            </a:pPr>
            <a:r>
              <a:t>`app/telemetry.py`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Wrap-Up: Transferfragen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Wenn wir einen 5. Agenten hinzufügen (z. B. FactChecker): Wo platzieren – und warum?</a:t>
            </a:r>
          </a:p>
          <a:p>
            <a:pPr>
              <a:defRPr sz="2000"/>
            </a:pPr>
            <a:r>
              <a:t>Wie verhindern wir Halluzinationen: Reader-Prompt, Critic-Score, Routing, Parser?</a:t>
            </a:r>
          </a:p>
          <a:p>
            <a:pPr>
              <a:defRPr sz="2000"/>
            </a:pPr>
            <a:r>
              <a:t>Was passiert bei sehr großem Input: Token-Limits, Zeit, Kosten – und Gegenmaßnahmen?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